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7816" cy="30275784"/>
  <p:notesSz cx="30275784" cy="21387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jumbo-store/TP_ML_Enfermedad_Renal_Cronica/poster/logo_uc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383280" y="594360"/>
            <a:ext cx="1737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Comunera (UCOM)  ·  Taller de Machine Learning – Proyecto II ML  ·  Trabajo Práctico Integrador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3383280" y="1097280"/>
            <a:ext cx="1737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enfermedad renal crónica con Machine Learning y efecto del tratamiento de los valores faltantes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3383280" y="2971800"/>
            <a:ext cx="1737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Bethania Arami Avila Dominguez</a:t>
            </a:r>
            <a:pPr indent="0" marL="0">
              <a:buNone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Caso 3 · Dataset Chronic Kidney Disease (UCI ID 336) · Septiembre 2026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3931920"/>
            <a:ext cx="6519672" cy="60350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096512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Problema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00600"/>
            <a:ext cx="597103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enfermedad renal crónica (ERC) afecta a cerca del 9 % de la población mundial y en sus primeras etapas no da síntomas, por eso se diagnostica tarde [2], [3].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clasificar pacientes con ERC (ckd = 1) y sin ERC (notckd = 0) usando análisis de rutina de sangre y orina y antecedentes clínicos.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tamizaje el error más grave es el falso negativo (un enfermo que pasa como sano), así que la métrica que más importa es el Recall.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 caso: ¿cómo afecta el tratamiento de los valores faltantes al desempeño final de los modelos?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48640" y="10332720"/>
            <a:ext cx="6519672" cy="79552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0497312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Dataset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11201400"/>
            <a:ext cx="5971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Kidney Disease, UCI Machine Learning Repository, ID 336 [1]. Pacientes del Apollo Hospitals (Tamil Nadu, India).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22960" y="12435840"/>
            <a:ext cx="1929384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1250899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13057632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43784" y="12435840"/>
            <a:ext cx="1929384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43784" y="1250899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/ 150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2889504" y="13057632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 / notckd (62,5 % / 37,5 %)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864608" y="12435840"/>
            <a:ext cx="1929384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64608" y="1250899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4910328" y="13057632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14 numéricas + 10 binarias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22960" y="13670280"/>
            <a:ext cx="1929384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1374343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10,5 %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14292072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celdas faltantes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843784" y="13670280"/>
            <a:ext cx="1929384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43784" y="1374343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2889504" y="14292072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con registro completo (40 %)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864608" y="13670280"/>
            <a:ext cx="1929384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64608" y="13743432"/>
            <a:ext cx="1929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4910328" y="14292072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Training / Test</a:t>
            </a:r>
            <a:endParaRPr lang="en-US" sz="1400" dirty="0"/>
          </a:p>
        </p:txBody>
      </p:sp>
      <p:pic>
        <p:nvPicPr>
          <p:cNvPr id="30" name="Image 1" descr="/home/user/jumbo-store/TP_ML_Enfermedad_Renal_Cronica/figuras/02_faltan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5041880"/>
            <a:ext cx="5943600" cy="1853209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22960" y="16940809"/>
            <a:ext cx="5971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 por variable y por paciente según la clase. No son aleatorios: a un paciente con ERC le faltan en promedio 3,6 datos y a uno sano 0,7. Entre los registros completos solo el 27 % es ckd.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548640" y="18653760"/>
            <a:ext cx="6519672" cy="110642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22960" y="18818352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Análisis exploratorio</a:t>
            </a:r>
            <a:endParaRPr lang="en-US" sz="3200" dirty="0"/>
          </a:p>
        </p:txBody>
      </p:sp>
      <p:pic>
        <p:nvPicPr>
          <p:cNvPr id="34" name="Image 2" descr="/home/user/jumbo-store/TP_ML_Enfermedad_Renal_Cronica/figuras/07_dispersion_hemo_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16" y="19522440"/>
            <a:ext cx="4389120" cy="329184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22960" y="22860000"/>
            <a:ext cx="5971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solo dos variables las clases ya quedan casi separadas.</a:t>
            </a:r>
            <a:endParaRPr lang="en-US" sz="1700" dirty="0"/>
          </a:p>
        </p:txBody>
      </p:sp>
      <p:sp>
        <p:nvSpPr>
          <p:cNvPr id="36" name="Text 31"/>
          <p:cNvSpPr txBox="1"/>
          <p:nvPr/>
        </p:nvSpPr>
        <p:spPr>
          <a:xfrm>
            <a:off x="822960" y="23454360"/>
            <a:ext cx="59710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ERC bajan la hemoglobina, el hematocrito y la gravedad específica de la orina, y suben la creatinina, la urea y la albúmina.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Hipertensión, diabetes, anemia y edema aparecen solo en pacientes con ERC.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valores extremos reales (creatinina de hasta 76 mg/dl); se conservan.</a:t>
            </a:r>
            <a:endParaRPr lang="en-US" sz="2100" dirty="0"/>
          </a:p>
        </p:txBody>
      </p:sp>
      <p:pic>
        <p:nvPicPr>
          <p:cNvPr id="37" name="Image 3" descr="/home/user/jumbo-store/TP_ML_Enfermedad_Renal_Cronica/figuras/05_categoric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" y="27020520"/>
            <a:ext cx="5486400" cy="219456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822960" y="29260800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 por clase: los signos clínicos aparecen solo en pacientes con ERC.</a:t>
            </a:r>
            <a:endParaRPr lang="en-US" sz="1700" dirty="0"/>
          </a:p>
        </p:txBody>
      </p:sp>
      <p:sp>
        <p:nvSpPr>
          <p:cNvPr id="39" name="Shape 33"/>
          <p:cNvSpPr/>
          <p:nvPr/>
        </p:nvSpPr>
        <p:spPr>
          <a:xfrm>
            <a:off x="7434072" y="3931920"/>
            <a:ext cx="6519672" cy="81381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7708392" y="4096512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Metodología</a:t>
            </a:r>
            <a:endParaRPr lang="en-US" sz="3200" dirty="0"/>
          </a:p>
        </p:txBody>
      </p:sp>
      <p:sp>
        <p:nvSpPr>
          <p:cNvPr id="41" name="Text 35"/>
          <p:cNvSpPr txBox="1"/>
          <p:nvPr/>
        </p:nvSpPr>
        <p:spPr>
          <a:xfrm>
            <a:off x="7708392" y="4800600"/>
            <a:ext cx="597103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80 / 20 estratificada. El Test (80 pacientes) se aparta al inicio y se usa una sola vez, al final.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preprocesamiento (codificación 0/1, estandarización e imputación por mediana) va dentro de un Pipeline de scikit-learn, así en cada fold se ajusta solo con datos de entrenamiento y no hay data leakage.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con GridSearchCV, validación cruzada estratificada de 5 folds sobre Training, métrica F1. Semilla fija (42).</a:t>
            </a:r>
            <a:endParaRPr lang="en-US" sz="2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08392" y="7543800"/>
          <a:ext cx="59710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17190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Hiperparámetros explorados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configuración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Logística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∈ {0,01 … 100}; L1 / L2; class_weight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10, L2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lineal / RBF; C ∈ {0,1 … 100}; gamma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RBF, C = 10, gamma = scale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árboles; profundidad; hojas; max_features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árboles, sin límite de profundidad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neuronal (Keras)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capas (8) · (16, 8) · (32, 16); dropout 0 / 0,3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→ 8 → 1, dropout 0,3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Text 36"/>
          <p:cNvSpPr txBox="1"/>
          <p:nvPr/>
        </p:nvSpPr>
        <p:spPr>
          <a:xfrm>
            <a:off x="7708392" y="10652760"/>
            <a:ext cx="5971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ReLU + salida sigmoide, entropía cruzada binaria, Adam (lr 0,003), batch 32, early stopping con paciencia 20.</a:t>
            </a:r>
            <a:endParaRPr lang="en-US" sz="1700" dirty="0"/>
          </a:p>
        </p:txBody>
      </p:sp>
      <p:sp>
        <p:nvSpPr>
          <p:cNvPr id="44" name="Shape 37"/>
          <p:cNvSpPr/>
          <p:nvPr/>
        </p:nvSpPr>
        <p:spPr>
          <a:xfrm>
            <a:off x="7434072" y="12344400"/>
            <a:ext cx="6519672" cy="173736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7708392" y="12508992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Resultados en Test</a:t>
            </a:r>
            <a:endParaRPr lang="en-US" sz="32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08392" y="13213080"/>
          <a:ext cx="5971032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722376"/>
                <a:gridCol w="722376"/>
                <a:gridCol w="722376"/>
                <a:gridCol w="722376"/>
                <a:gridCol w="722376"/>
                <a:gridCol w="7315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CV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Logística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neuronal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" name="Image 4" descr="/home/user/jumbo-store/TP_ML_Enfermedad_Renal_Cronica/figuras/09_matrices_confus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2108" y="15864840"/>
            <a:ext cx="5943600" cy="139849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7708392" y="17309054"/>
            <a:ext cx="5971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confusión. Ningún modelo dio falsos positivos; todos los errores son enfermos no detectados (FN: 2 · 1 · 0 · 3), o sea diferencias de 1 a 3 pacientes.</a:t>
            </a:r>
            <a:endParaRPr lang="en-US" sz="1700" dirty="0"/>
          </a:p>
        </p:txBody>
      </p:sp>
      <p:pic>
        <p:nvPicPr>
          <p:cNvPr id="49" name="Image 5" descr="/home/user/jumbo-store/TP_ML_Enfermedad_Renal_Cronica/figuras/10_curvas_ro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2" y="18543494"/>
            <a:ext cx="2926080" cy="2438400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10817352" y="18589214"/>
            <a:ext cx="28620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ROC: AUC ≥ 0,995 en los cuatro modelos. Todos ordenan bien a los pacientes; las diferencias aparecen al aplicar el umbral de 0,5. Brecha train–CV ≤ 0,005: no hay sobreajuste.</a:t>
            </a:r>
            <a:endParaRPr lang="en-US" sz="1800" dirty="0"/>
          </a:p>
        </p:txBody>
      </p:sp>
      <p:pic>
        <p:nvPicPr>
          <p:cNvPr id="51" name="Image 6" descr="/home/user/jumbo-store/TP_ML_Enfermedad_Renal_Cronica/figuras/12_importancia_variabl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2108" y="21164774"/>
            <a:ext cx="5943600" cy="2286000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7708392" y="23496494"/>
            <a:ext cx="5971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más importantes según la Regresión Logística (coeficientes) y el Random Forest (permutación): hemoglobina, gravedad específica, hematocrito, albúmina, creatinina, hipertensión y diabetes.</a:t>
            </a:r>
            <a:endParaRPr lang="en-US" sz="1700" dirty="0"/>
          </a:p>
        </p:txBody>
      </p:sp>
      <p:sp>
        <p:nvSpPr>
          <p:cNvPr id="53" name="Text 42"/>
          <p:cNvSpPr txBox="1"/>
          <p:nvPr/>
        </p:nvSpPr>
        <p:spPr>
          <a:xfrm>
            <a:off x="7708392" y="24913814"/>
            <a:ext cx="59710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pacientes mal clasificados tienen valores casi normales (hemoglobina 13,9–16,1 g/dl, sin hipertensión ni diabetes): probablemente ERC en etapa temprana.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neuronal falló además en un paciente con creatinina 32 y urea 391: fuera del rango de entrenamiento extrapola mal; el Random Forest no tiene ese problema.</a:t>
            </a:r>
            <a:endParaRPr lang="en-US" sz="1900" dirty="0"/>
          </a:p>
        </p:txBody>
      </p:sp>
      <p:sp>
        <p:nvSpPr>
          <p:cNvPr id="54" name="Shape 43"/>
          <p:cNvSpPr/>
          <p:nvPr/>
        </p:nvSpPr>
        <p:spPr>
          <a:xfrm>
            <a:off x="14319504" y="3931920"/>
            <a:ext cx="6519672" cy="108813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14593824" y="4096512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Valores faltantes</a:t>
            </a:r>
            <a:endParaRPr lang="en-US" sz="3200" dirty="0"/>
          </a:p>
        </p:txBody>
      </p:sp>
      <p:sp>
        <p:nvSpPr>
          <p:cNvPr id="56" name="Text 45"/>
          <p:cNvSpPr txBox="1"/>
          <p:nvPr/>
        </p:nvSpPr>
        <p:spPr>
          <a:xfrm>
            <a:off x="14593824" y="4800600"/>
            <a:ext cx="5971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compararon 6 estrategias con los mismos hiperparámetros (validación cruzada 5×2 sobre Training, evaluando siempre sobre todos los pacientes).</a:t>
            </a:r>
            <a:endParaRPr lang="en-US" sz="2100" dirty="0"/>
          </a:p>
        </p:txBody>
      </p:sp>
      <p:pic>
        <p:nvPicPr>
          <p:cNvPr id="57" name="Image 7" descr="/home/user/jumbo-store/TP_ML_Enfermedad_Renal_Cronica/poster/poster_heatmap_faltante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07540" y="6400800"/>
            <a:ext cx="5943600" cy="3592002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14593824" y="10038522"/>
            <a:ext cx="5971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medio según estrategia de faltantes y modelo.</a:t>
            </a:r>
            <a:endParaRPr lang="en-US" sz="1700" dirty="0"/>
          </a:p>
        </p:txBody>
      </p:sp>
      <p:sp>
        <p:nvSpPr>
          <p:cNvPr id="59" name="Shape 47"/>
          <p:cNvSpPr/>
          <p:nvPr/>
        </p:nvSpPr>
        <p:spPr>
          <a:xfrm>
            <a:off x="14593824" y="10541442"/>
            <a:ext cx="5971032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60" name="Text 48"/>
          <p:cNvSpPr txBox="1"/>
          <p:nvPr/>
        </p:nvSpPr>
        <p:spPr>
          <a:xfrm>
            <a:off x="14776704" y="10678602"/>
            <a:ext cx="56052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los pacientes incompletos: F1 0,81–0,92 y Recall 0,69–0,86.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el 62 % del entrenamiento y la proporción de ckd cae de 62,5 % a 26,5 %, porque los faltantes se concentran en los enfermos. Los modelos dejan de detectar enfermos.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imputación (mediana, KNN, MICE): F1 ≥ 0,98.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que solo sabe qué datos faltan ya logra AUC 0,86: la ausencia de datos es informativa, pero depende del protocolo de registro del hospital.</a:t>
            </a:r>
            <a:endParaRPr lang="en-US" sz="1900" dirty="0"/>
          </a:p>
        </p:txBody>
      </p:sp>
      <p:sp>
        <p:nvSpPr>
          <p:cNvPr id="61" name="Shape 49"/>
          <p:cNvSpPr/>
          <p:nvPr/>
        </p:nvSpPr>
        <p:spPr>
          <a:xfrm>
            <a:off x="14319504" y="15179040"/>
            <a:ext cx="6519672" cy="75895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14593824" y="15343632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Conclusiones</a:t>
            </a:r>
            <a:endParaRPr lang="en-US" sz="3200" dirty="0"/>
          </a:p>
        </p:txBody>
      </p:sp>
      <p:sp>
        <p:nvSpPr>
          <p:cNvPr id="63" name="Text 51"/>
          <p:cNvSpPr txBox="1"/>
          <p:nvPr/>
        </p:nvSpPr>
        <p:spPr>
          <a:xfrm>
            <a:off x="14593824" y="16047720"/>
            <a:ext cx="5971032" cy="658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ERC se detecta con muy alta precisión a partir de análisis de rutina, y los modelos se apoyan en variables con sentido clínico.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Random Forest fue el más adecuado: Recall = 1,00, ningún enfermo sin detectar. La Regresión Logística es una alternativa válida y más fácil de interpretar.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con más impacto no fue el modelo sino el tratamiento de los faltantes: hay que conservar a todos los pacientes e imputar dentro del pipeline. El método de imputación es secundario.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Limitaciones: 400 pacientes de un solo hospital, faltantes asociados a la clase y Test chico (cada error vale 1,25 puntos).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futuro: validación externa, ajuste del umbral para priorizar el Recall, XGBoost, explicaciones con SHAP.</a:t>
            </a:r>
            <a:endParaRPr lang="en-US" sz="2100" dirty="0"/>
          </a:p>
        </p:txBody>
      </p:sp>
      <p:sp>
        <p:nvSpPr>
          <p:cNvPr id="64" name="Shape 52"/>
          <p:cNvSpPr/>
          <p:nvPr/>
        </p:nvSpPr>
        <p:spPr>
          <a:xfrm>
            <a:off x="14319504" y="23134320"/>
            <a:ext cx="6519672" cy="65836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5" name="Text 53"/>
          <p:cNvSpPr txBox="1"/>
          <p:nvPr/>
        </p:nvSpPr>
        <p:spPr>
          <a:xfrm>
            <a:off x="14593824" y="23298912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3200" dirty="0"/>
          </a:p>
        </p:txBody>
      </p:sp>
      <p:sp>
        <p:nvSpPr>
          <p:cNvPr id="66" name="Text 54"/>
          <p:cNvSpPr txBox="1"/>
          <p:nvPr/>
        </p:nvSpPr>
        <p:spPr>
          <a:xfrm>
            <a:off x="14593824" y="23865840"/>
            <a:ext cx="5971032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L. J. Rubini, P. Soundarapandian y P. Eswaran, “Chronic Kidney Disease,” UCI Machine Learning Repository, 2015. doi: 10.24432/C5G020.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KDIGO CKD Work Group, “KDIGO 2012 clinical practice guideline for the evaluation and management of chronic kidney disease,” Kidney Int. Suppl., vol. 3, no. 1, pp. 1–150, 2013.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GBD Chronic Kidney Disease Collaboration, “Global, regional, and national burden of chronic kidney disease, 1990–2017,” The Lancet, vol. 395, pp. 709–733, 2020.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J. Qin et al., “A machine learning methodology for diagnosing chronic kidney disease,” IEEE Access, vol. 8, pp. 20991–21002, 2020.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H. Polat, H. Danaei Mehr y A. Cetin, “Diagnosis of chronic kidney disease based on support vector machine by feature selection methods,” J. Med. Syst., vol. 41, no. 4, 2017.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L. Breiman, “Random forests,” Machine Learning, vol. 45, no. 1, pp. 5–32, 2001.   [11] D. B. Rubin, “Inference and missing data,” Biometrika, vol. 63, no. 3, pp. 581–592, 1976.</a:t>
            </a:r>
            <a:endParaRPr lang="en-US" sz="1300" dirty="0"/>
          </a:p>
        </p:txBody>
      </p:sp>
      <p:sp>
        <p:nvSpPr>
          <p:cNvPr id="67" name="Text 55"/>
          <p:cNvSpPr txBox="1"/>
          <p:nvPr/>
        </p:nvSpPr>
        <p:spPr>
          <a:xfrm>
            <a:off x="548640" y="29763720"/>
            <a:ext cx="20290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completo (Google Colab), datos y figuras: repositorio del trabajo. Numeración de referencias según el notebook.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Enfermedad Renal Crónica con Machine Learning</dc:title>
  <dc:subject>PptxGenJS Presentation</dc:subject>
  <dc:creator>Bethania Arami Avila Dominguez</dc:creator>
  <cp:lastModifiedBy>Bethania Arami Avila Dominguez</cp:lastModifiedBy>
  <cp:revision>1</cp:revision>
  <dcterms:created xsi:type="dcterms:W3CDTF">2026-09-29T21:12:23Z</dcterms:created>
  <dcterms:modified xsi:type="dcterms:W3CDTF">2026-09-29T21:12:23Z</dcterms:modified>
</cp:coreProperties>
</file>